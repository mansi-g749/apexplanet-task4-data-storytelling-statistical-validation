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Revenue (₹M)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Electronics</c:v>
              </c:pt>
              <c:pt idx="1">
                <c:v>Education</c:v>
              </c:pt>
              <c:pt idx="2">
                <c:v>Grocery</c:v>
              </c:pt>
              <c:pt idx="3">
                <c:v>Furniture</c:v>
              </c:pt>
              <c:pt idx="4">
                <c:v>Fashion</c:v>
              </c:pt>
            </c:strLit>
          </c:cat>
          <c:val>
            <c:numLit>
              <c:formatCode>General</c:formatCode>
              <c:ptCount val="5"/>
              <c:pt idx="0">
                <c:v>50.78</c:v>
              </c:pt>
              <c:pt idx="1">
                <c:v>25.03</c:v>
              </c:pt>
              <c:pt idx="2">
                <c:v>22.23</c:v>
              </c:pt>
              <c:pt idx="3">
                <c:v>21.52</c:v>
              </c:pt>
              <c:pt idx="4">
                <c:v>19.84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7E4-4061-B2B4-BCB624141D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9525">
              <a:solidFill>
                <a:srgbClr val="EDEE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10182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Revenue (₹M)</c:v>
          </c:tx>
          <c:spPr>
            <a:solidFill>
              <a:srgbClr val="17B26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Patna</c:v>
              </c:pt>
              <c:pt idx="1">
                <c:v>Kolkata</c:v>
              </c:pt>
              <c:pt idx="2">
                <c:v>Bengaluru</c:v>
              </c:pt>
              <c:pt idx="3">
                <c:v>Mumbai</c:v>
              </c:pt>
              <c:pt idx="4">
                <c:v>Hyderabad</c:v>
              </c:pt>
            </c:strLit>
          </c:cat>
          <c:val>
            <c:numLit>
              <c:formatCode>General</c:formatCode>
              <c:ptCount val="5"/>
              <c:pt idx="0">
                <c:v>19.29</c:v>
              </c:pt>
              <c:pt idx="1">
                <c:v>18.88</c:v>
              </c:pt>
              <c:pt idx="2">
                <c:v>18.77</c:v>
              </c:pt>
              <c:pt idx="3">
                <c:v>18.760000000000002</c:v>
              </c:pt>
              <c:pt idx="4">
                <c:v>17.170000000000002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E43-4754-B365-C88A152EC2D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9525">
              <a:solidFill>
                <a:srgbClr val="EDEE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10182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Monthly revenue (₹M)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  <c:pt idx="9">
                <c:v>Oct</c:v>
              </c:pt>
              <c:pt idx="10">
                <c:v>Nov</c:v>
              </c:pt>
              <c:pt idx="11">
                <c:v>Dec</c:v>
              </c:pt>
            </c:strLit>
          </c:cat>
          <c:val>
            <c:numLit>
              <c:formatCode>General</c:formatCode>
              <c:ptCount val="12"/>
              <c:pt idx="0">
                <c:v>10.1</c:v>
              </c:pt>
              <c:pt idx="1">
                <c:v>11.51</c:v>
              </c:pt>
              <c:pt idx="2">
                <c:v>13.06</c:v>
              </c:pt>
              <c:pt idx="3">
                <c:v>12.22</c:v>
              </c:pt>
              <c:pt idx="4">
                <c:v>10.98</c:v>
              </c:pt>
              <c:pt idx="5">
                <c:v>12.91</c:v>
              </c:pt>
              <c:pt idx="6">
                <c:v>11.75</c:v>
              </c:pt>
              <c:pt idx="7">
                <c:v>9.4499999999999993</c:v>
              </c:pt>
              <c:pt idx="8">
                <c:v>9.18</c:v>
              </c:pt>
              <c:pt idx="9">
                <c:v>12.5</c:v>
              </c:pt>
              <c:pt idx="10">
                <c:v>12.63</c:v>
              </c:pt>
              <c:pt idx="11">
                <c:v>12.3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F8B-47EB-9727-0C1AC9BE73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6708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DEE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10182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Revenue (₹M)</c:v>
          </c:tx>
          <c:spPr>
            <a:solidFill>
              <a:srgbClr val="7F56D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High Value</c:v>
              </c:pt>
              <c:pt idx="1">
                <c:v>Medium Value</c:v>
              </c:pt>
              <c:pt idx="2">
                <c:v>Low Value</c:v>
              </c:pt>
            </c:strLit>
          </c:cat>
          <c:val>
            <c:numLit>
              <c:formatCode>General</c:formatCode>
              <c:ptCount val="3"/>
              <c:pt idx="0">
                <c:v>77.05</c:v>
              </c:pt>
              <c:pt idx="1">
                <c:v>56.72</c:v>
              </c:pt>
              <c:pt idx="2">
                <c:v>5.63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091-4FF6-9D13-54CF363770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708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9525">
              <a:solidFill>
                <a:srgbClr val="EDEE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101828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01F6-287E-7873-0317-DD2D4D945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FBC61-903D-51B6-30EF-C9A20BEB8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EE665-2392-119B-42ED-7EDF8FDD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61673-4CB1-7A2C-0F3F-854E3A9C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1E4FB-74DB-7C35-B352-2A3CB5DD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6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4602-E91D-2871-BA61-E43789C9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ABDFE-DE82-C383-924E-645A85EC7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2DEC2-EE06-4C1E-AD98-2F166BB49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FE22A-7493-EFB4-22B6-D870F0EE8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73BE4-DED4-4656-41A8-CB7EF267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51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2DD8-B975-4455-8C43-1DF145FA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52549-A44F-75F4-DE49-5F903F3E8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3F262-569F-F7D6-DE0C-A816F957C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4AC29-D1D7-0192-E416-47D49F03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A265E-18DF-313B-EFBF-691E3D83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50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12CB4-3BD4-4FE2-6534-198B11286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B643B-1C16-FCB8-F1CF-A7067AD32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2EBE9-B266-8D88-E806-C718BC586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62D73-2240-D282-2E91-A62D5EDF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B17C1-4402-05E5-8ABD-EB9173E7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EAA11-05CC-82B4-5372-ACC78C1C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9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F331D-6EDE-9BB5-91AD-76881466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D7523-4818-FCAE-3354-CD45E0327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8476D-2F68-2CFA-3495-C1A4B265B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BA3EB-95D1-A917-CB9B-933A9F355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0EAFF-A5EA-E07A-D0D2-E8B732BAF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73E5F-FB17-21A0-5251-75EC13D31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C87126-581A-6A77-90D5-2E9ECF5D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577F8-B91A-C54F-EDE2-DBE114F03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0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17CD9-CCC7-E0DE-0F3F-F8AED935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D3A6A-A0F4-BB8D-75A8-331E7D43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001DA-828D-8F64-893B-6A484BA6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5BA800-D384-0FC9-02CB-23F71090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5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3525A-C091-CB2B-7310-27A02A841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CCCBF-3531-416A-CEE8-7A2CEE92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65BB7-DDCA-8E99-0CFE-D9FB4F718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81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E6BC-623B-A088-EFCF-27E9B33CA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9A59-3991-D3E7-DC9B-47B6790AF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4B26E-4890-E4AD-F53A-9B1EAC36D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845E1-FF32-5BEC-3A4A-C0ADEDB1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19F5D-460F-2C7B-701C-E1B1A3C81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31ED3-DC93-00A5-B78A-9C710A1D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1FE70-0B31-AD6A-B560-6C545501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70017-043E-9A49-6061-BB77EA857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2EBF0-A80D-3ACC-93A7-408F23C34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0927B-1A67-1A36-FF40-C642A4320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A1FC3-4339-C982-8ACC-96C8539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E40B9-249A-7129-EA56-41431448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2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573A-802D-5222-7323-7272FB4B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C3F52-C762-5161-BCB8-83D696EF3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4270D-6BD4-707B-7A7E-6E2EF92F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3FDA8-D25D-961B-1CB1-089652A9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43A0E-B284-3449-A13D-50A5A824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8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19906-A2A8-A789-F957-9D4CBCCBF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F5B5C-8FC6-7822-CE0C-1A648A15B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F3360-D5E5-1C5C-2C2D-F8DE8BADF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0592A-B3F6-B8CD-33C9-63829EE8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E106-F747-5C0E-075D-6C1D7E82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727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77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3BECC-E5C4-C149-D0BE-902024D6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015A4-1333-34F4-EB73-5A21483BA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B4FAD-B644-84B4-77E4-6DA18BC5E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D646C-E4D3-BD7B-F3ED-CA408CC81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E81E6-37E9-A6BD-65F7-4A8F91D9B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6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ph/pin/697846904775950637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3010F4-53B8-49AF-9658-4303B03877F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APEXPLANET DATA ANALYTICS INTERNSHIP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B1EFEB-AEE1-4CC0-A20B-18B207AC4B25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5238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Sales performance &amp;</a:t>
            </a:r>
          </a:p>
          <a:p>
            <a:pPr algn="l"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segmentation</a:t>
            </a:r>
          </a:p>
          <a:p>
            <a:pPr algn="l">
              <a:defRPr sz="34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4569A-5690-416D-A441-F71A3BE6353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514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Task 4 - Data Storytelling &amp; Statistical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0895F6-259B-4C63-A03E-C2A3C96669F8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495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 business-focused summary of data preparation, sales performance, customer value, and statistical validation.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2E89D6-C996-4F00-A3D3-19ACF195C428}"/>
              </a:ext>
            </a:extLst>
          </p:cNvPr>
          <p:cNvSpPr>
            <a:spLocks noGrp="1"/>
          </p:cNvSpPr>
          <p:nvPr/>
        </p:nvSpPr>
        <p:spPr>
          <a:xfrm>
            <a:off x="6572250" y="685800"/>
            <a:ext cx="4762500" cy="5200650"/>
          </a:xfrm>
          <a:prstGeom prst="roundRect">
            <a:avLst>
              <a:gd name="adj" fmla="val 3200"/>
            </a:avLst>
          </a:prstGeom>
          <a:solidFill>
            <a:srgbClr val="EAF5FB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8CA86-6067-4092-8307-D1C101DCDB77}"/>
              </a:ext>
            </a:extLst>
          </p:cNvPr>
          <p:cNvSpPr>
            <a:spLocks noGrp="1"/>
          </p:cNvSpPr>
          <p:nvPr/>
        </p:nvSpPr>
        <p:spPr>
          <a:xfrm>
            <a:off x="7067550" y="1666875"/>
            <a:ext cx="3619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₹139.40M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D77711-2819-4EB0-86F7-AA5E20FDEE6E}"/>
              </a:ext>
            </a:extLst>
          </p:cNvPr>
          <p:cNvSpPr>
            <a:spLocks noGrp="1"/>
          </p:cNvSpPr>
          <p:nvPr/>
        </p:nvSpPr>
        <p:spPr>
          <a:xfrm>
            <a:off x="7067550" y="2457450"/>
            <a:ext cx="3619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Total sales analysed across 1,000 transactions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217A3-72BE-43E7-A4F6-45AA172238B5}"/>
              </a:ext>
            </a:extLst>
          </p:cNvPr>
          <p:cNvSpPr>
            <a:spLocks noGrp="1"/>
          </p:cNvSpPr>
          <p:nvPr/>
        </p:nvSpPr>
        <p:spPr>
          <a:xfrm>
            <a:off x="7334250" y="3429000"/>
            <a:ext cx="3095625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Task 1 → Clean data</a:t>
            </a:r>
          </a:p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Task 2 → Analyse sales</a:t>
            </a:r>
          </a:p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Task 3 → Segment customers</a:t>
            </a:r>
          </a:p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Task 4 → Recommend action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614B45-08A1-45E3-9081-E49F24E1B5A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8418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BAA1122-02E2-472C-96A1-9413BE900F3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objective is to turn sales data into targeted business action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53FFB-90C5-4774-8791-E7C68305C480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D2CD7-C1BE-4E0E-A7C4-2A70EFEE735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D7D262-D6C9-48A4-B2AB-D7B1FA33A31B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Business question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77A3C-61EB-4396-80EE-5E3D40C69064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4524375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Where should the business focus its sales, customer-retention, and marketing effort?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8006E3-80E3-4EB9-92BB-55189129FE85}"/>
              </a:ext>
            </a:extLst>
          </p:cNvPr>
          <p:cNvSpPr>
            <a:spLocks noGrp="1"/>
          </p:cNvSpPr>
          <p:nvPr/>
        </p:nvSpPr>
        <p:spPr>
          <a:xfrm>
            <a:off x="6096000" y="1524000"/>
            <a:ext cx="495300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6C68C8-3B0E-4677-86A1-1C303C21533F}"/>
              </a:ext>
            </a:extLst>
          </p:cNvPr>
          <p:cNvSpPr>
            <a:spLocks noGrp="1"/>
          </p:cNvSpPr>
          <p:nvPr/>
        </p:nvSpPr>
        <p:spPr>
          <a:xfrm>
            <a:off x="6515100" y="1857375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Analysis journey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ECB5B-6C9E-4A86-A9E5-C171BB3853D5}"/>
              </a:ext>
            </a:extLst>
          </p:cNvPr>
          <p:cNvSpPr>
            <a:spLocks noGrp="1"/>
          </p:cNvSpPr>
          <p:nvPr/>
        </p:nvSpPr>
        <p:spPr>
          <a:xfrm>
            <a:off x="6515100" y="242887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  Clean and validate the sales dataset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A9B5D0-123C-4591-8087-AC848C198411}"/>
              </a:ext>
            </a:extLst>
          </p:cNvPr>
          <p:cNvSpPr>
            <a:spLocks noGrp="1"/>
          </p:cNvSpPr>
          <p:nvPr/>
        </p:nvSpPr>
        <p:spPr>
          <a:xfrm>
            <a:off x="6515100" y="300037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  Identify category, city, and product trends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A8DFE9-6F2E-4EA6-9366-0D12A123E465}"/>
              </a:ext>
            </a:extLst>
          </p:cNvPr>
          <p:cNvSpPr>
            <a:spLocks noGrp="1"/>
          </p:cNvSpPr>
          <p:nvPr/>
        </p:nvSpPr>
        <p:spPr>
          <a:xfrm>
            <a:off x="6515100" y="357187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3  Segment customers by revenue contribution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C2A2DE-A7BE-4431-A5D8-ED75DBB264A9}"/>
              </a:ext>
            </a:extLst>
          </p:cNvPr>
          <p:cNvSpPr>
            <a:spLocks noGrp="1"/>
          </p:cNvSpPr>
          <p:nvPr/>
        </p:nvSpPr>
        <p:spPr>
          <a:xfrm>
            <a:off x="6515100" y="414337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4  Validate a customer insight statistically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8073B3-9803-4F1D-8C03-B73899B216EB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885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Outcome: recommendations supported by evidence, not assumptions.</a:t>
            </a:r>
          </a:p>
        </p:txBody>
      </p:sp>
    </p:spTree>
    <p:extLst>
      <p:ext uri="{BB962C8B-B14F-4D97-AF65-F5344CB8AC3E}">
        <p14:creationId xmlns:p14="http://schemas.microsoft.com/office/powerpoint/2010/main" val="45221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91E925E-3F9A-4850-8BBD-9BF447D4406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cleaned dataset is analysis-ready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63EBA5-F984-45CE-B933-2C9528F70535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FF8239-CC02-4DC9-A41C-1FA996969787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FCD75B-CD42-4D5B-931F-87908AED4F1C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BD4AB-2ED1-4371-8AAA-9AD1A6EAE9D0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Sales transactions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831FB-7DB4-4558-BD4D-4A365F635373}"/>
              </a:ext>
            </a:extLst>
          </p:cNvPr>
          <p:cNvSpPr>
            <a:spLocks noGrp="1"/>
          </p:cNvSpPr>
          <p:nvPr/>
        </p:nvSpPr>
        <p:spPr>
          <a:xfrm>
            <a:off x="93345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C52CAF-A116-49F7-92D8-A7D008D0050A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Customer, product, city, date, and revenue fields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E4834B-58F5-4743-B8E6-E6430BD65332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76200" cy="22383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BF47DC-0456-4BCD-A4FA-6C0A0CAF0930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58ADD4-9AE8-43BC-8274-4B11CE866368}"/>
              </a:ext>
            </a:extLst>
          </p:cNvPr>
          <p:cNvSpPr>
            <a:spLocks noGrp="1"/>
          </p:cNvSpPr>
          <p:nvPr/>
        </p:nvSpPr>
        <p:spPr>
          <a:xfrm>
            <a:off x="472440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Missing values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08D51E-827E-494C-B625-ED42054A1956}"/>
              </a:ext>
            </a:extLst>
          </p:cNvPr>
          <p:cNvSpPr>
            <a:spLocks noGrp="1"/>
          </p:cNvSpPr>
          <p:nvPr/>
        </p:nvSpPr>
        <p:spPr>
          <a:xfrm>
            <a:off x="472440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97274E-8F0E-4585-9264-B51293E23FC3}"/>
              </a:ext>
            </a:extLst>
          </p:cNvPr>
          <p:cNvSpPr>
            <a:spLocks noGrp="1"/>
          </p:cNvSpPr>
          <p:nvPr/>
        </p:nvSpPr>
        <p:spPr>
          <a:xfrm>
            <a:off x="472440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Age and city gaps handled during Task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5E717-91FA-4F00-BEBF-DAE3F4DB926B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76200" cy="2238375"/>
          </a:xfrm>
          <a:prstGeom prst="rect">
            <a:avLst/>
          </a:prstGeom>
          <a:solidFill>
            <a:srgbClr val="17B26A"/>
          </a:solidFill>
          <a:ln w="0">
            <a:solidFill>
              <a:srgbClr val="17B26A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063714-8DE1-4C1B-B8F5-7288082DC8BD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3CC0ED-3831-4CCE-ACC0-7D7DFA996699}"/>
              </a:ext>
            </a:extLst>
          </p:cNvPr>
          <p:cNvSpPr>
            <a:spLocks noGrp="1"/>
          </p:cNvSpPr>
          <p:nvPr/>
        </p:nvSpPr>
        <p:spPr>
          <a:xfrm>
            <a:off x="851535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Sales validation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8AEA38-1C87-4056-B65B-0324508F34F0}"/>
              </a:ext>
            </a:extLst>
          </p:cNvPr>
          <p:cNvSpPr>
            <a:spLocks noGrp="1"/>
          </p:cNvSpPr>
          <p:nvPr/>
        </p:nvSpPr>
        <p:spPr>
          <a:xfrm>
            <a:off x="851535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Passed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56358-8F1B-49F2-A306-BD603868BE91}"/>
              </a:ext>
            </a:extLst>
          </p:cNvPr>
          <p:cNvSpPr>
            <a:spLocks noGrp="1"/>
          </p:cNvSpPr>
          <p:nvPr/>
        </p:nvSpPr>
        <p:spPr>
          <a:xfrm>
            <a:off x="851535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Quantity × unit price reconciled with total sales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AC412B-F8F8-4E16-BBC6-F74628CE6BBC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76200" cy="2238375"/>
          </a:xfrm>
          <a:prstGeom prst="rect">
            <a:avLst/>
          </a:prstGeom>
          <a:solidFill>
            <a:srgbClr val="7F56D9"/>
          </a:solidFill>
          <a:ln w="0">
            <a:solidFill>
              <a:srgbClr val="7F56D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5F66B1-0216-40D4-9D07-EC5F6F636247}"/>
              </a:ext>
            </a:extLst>
          </p:cNvPr>
          <p:cNvSpPr>
            <a:spLocks noGrp="1"/>
          </p:cNvSpPr>
          <p:nvPr/>
        </p:nvSpPr>
        <p:spPr>
          <a:xfrm>
            <a:off x="609599" y="5181600"/>
            <a:ext cx="421803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Preparation applied before 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5C0394-3D47-4073-97F9-9F8B80E4904B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38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• Date and text formats </a:t>
            </a:r>
            <a:r>
              <a:rPr sz="150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standardised</a:t>
            </a:r>
            <a:r>
              <a:rPr sz="150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  • Duplicate order IDs flagged   • Order month and age-group fields created</a:t>
            </a:r>
          </a:p>
        </p:txBody>
      </p:sp>
    </p:spTree>
    <p:extLst>
      <p:ext uri="{BB962C8B-B14F-4D97-AF65-F5344CB8AC3E}">
        <p14:creationId xmlns:p14="http://schemas.microsoft.com/office/powerpoint/2010/main" val="213594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19126E0-D41C-4A84-B425-9AB01AC1950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Sales performance establishes a strong baseline for deeper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577B78-AECA-4609-8DC9-7FE85D1B2C78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F1502F-850D-49BB-95C2-EBD85445D6F6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1D8793-BC3E-47F7-B983-C58302C01836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B66835-A6EB-4055-BBD7-D9957A87595B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Total Revenue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83713B-86BA-4B14-8C3B-4830FCA2EBD3}"/>
              </a:ext>
            </a:extLst>
          </p:cNvPr>
          <p:cNvSpPr>
            <a:spLocks noGrp="1"/>
          </p:cNvSpPr>
          <p:nvPr/>
        </p:nvSpPr>
        <p:spPr>
          <a:xfrm>
            <a:off x="93345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₹139.40M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6C704F-323E-45B3-893F-BAEFD7A3B43B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Sum of transaction sales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BBE988-A6BF-4D08-B10A-6A6B5525C27E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76200" cy="22383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E6186E-6B5B-4B41-B67C-2AF0FA7D4E0A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FE65A-7D2C-4DDE-B2E6-E8003235B23C}"/>
              </a:ext>
            </a:extLst>
          </p:cNvPr>
          <p:cNvSpPr>
            <a:spLocks noGrp="1"/>
          </p:cNvSpPr>
          <p:nvPr/>
        </p:nvSpPr>
        <p:spPr>
          <a:xfrm>
            <a:off x="472440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Average Order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4E99B-B38B-462F-BD6D-D7F30011E1C1}"/>
              </a:ext>
            </a:extLst>
          </p:cNvPr>
          <p:cNvSpPr>
            <a:spLocks noGrp="1"/>
          </p:cNvSpPr>
          <p:nvPr/>
        </p:nvSpPr>
        <p:spPr>
          <a:xfrm>
            <a:off x="472440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₹139.40K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457B38-87E1-413F-B083-99BAB7444F94}"/>
              </a:ext>
            </a:extLst>
          </p:cNvPr>
          <p:cNvSpPr>
            <a:spLocks noGrp="1"/>
          </p:cNvSpPr>
          <p:nvPr/>
        </p:nvSpPr>
        <p:spPr>
          <a:xfrm>
            <a:off x="472440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Revenue per transaction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A6460-D093-4701-A1FA-1885AF2FD3E5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76200" cy="2238375"/>
          </a:xfrm>
          <a:prstGeom prst="rect">
            <a:avLst/>
          </a:prstGeom>
          <a:solidFill>
            <a:srgbClr val="7F56D9"/>
          </a:solidFill>
          <a:ln w="0">
            <a:solidFill>
              <a:srgbClr val="7F56D9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D34129F-5E2D-4266-AA19-E16CA791ADB0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495E97-4E56-43CF-98A9-96B30B8629DB}"/>
              </a:ext>
            </a:extLst>
          </p:cNvPr>
          <p:cNvSpPr>
            <a:spLocks noGrp="1"/>
          </p:cNvSpPr>
          <p:nvPr/>
        </p:nvSpPr>
        <p:spPr>
          <a:xfrm>
            <a:off x="851535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Total Quantity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31C29E-A4BB-4882-97A2-B506AECE27BB}"/>
              </a:ext>
            </a:extLst>
          </p:cNvPr>
          <p:cNvSpPr>
            <a:spLocks noGrp="1"/>
          </p:cNvSpPr>
          <p:nvPr/>
        </p:nvSpPr>
        <p:spPr>
          <a:xfrm>
            <a:off x="851535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5,435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E779C5-2543-4E6C-93BA-1BD5296C4857}"/>
              </a:ext>
            </a:extLst>
          </p:cNvPr>
          <p:cNvSpPr>
            <a:spLocks noGrp="1"/>
          </p:cNvSpPr>
          <p:nvPr/>
        </p:nvSpPr>
        <p:spPr>
          <a:xfrm>
            <a:off x="851535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Units sold across all transactions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DD1300-E0CE-4FA9-8082-81E3A8C86AD8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76200" cy="2238375"/>
          </a:xfrm>
          <a:prstGeom prst="rect">
            <a:avLst/>
          </a:prstGeom>
          <a:solidFill>
            <a:srgbClr val="17B26A"/>
          </a:solidFill>
          <a:ln w="0">
            <a:solidFill>
              <a:srgbClr val="17B26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F57AB0-7327-4952-AA69-D2752D9B7B5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These KPIs were used as the common baseline across Task 2 and Task 3 dashboards.</a:t>
            </a:r>
          </a:p>
        </p:txBody>
      </p:sp>
    </p:spTree>
    <p:extLst>
      <p:ext uri="{BB962C8B-B14F-4D97-AF65-F5344CB8AC3E}">
        <p14:creationId xmlns:p14="http://schemas.microsoft.com/office/powerpoint/2010/main" val="65468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4FBD717-6A80-43B4-AADB-306888588DF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Electronics is the strongest revenue category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D06D4C-A838-49AC-90FB-0102C2DFAC80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D42E0-C9FC-4929-B1DA-3B51AC6DA0F4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685800" y="1695450"/>
          <a:ext cx="61912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CF936FB-AE03-46C6-AF47-FF20935F6AC2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Revenue by product category (₹M)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0BBEB02-4186-4FA7-9C28-7144300382B0}"/>
              </a:ext>
            </a:extLst>
          </p:cNvPr>
          <p:cNvSpPr>
            <a:spLocks noGrp="1"/>
          </p:cNvSpPr>
          <p:nvPr/>
        </p:nvSpPr>
        <p:spPr>
          <a:xfrm>
            <a:off x="7429500" y="1771650"/>
            <a:ext cx="3619500" cy="3429000"/>
          </a:xfrm>
          <a:prstGeom prst="roundRect">
            <a:avLst>
              <a:gd name="adj" fmla="val 4444"/>
            </a:avLst>
          </a:prstGeom>
          <a:solidFill>
            <a:srgbClr val="EAF5FB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8F4CF7-8D18-4D6B-B806-668FF32AAB4D}"/>
              </a:ext>
            </a:extLst>
          </p:cNvPr>
          <p:cNvSpPr>
            <a:spLocks noGrp="1"/>
          </p:cNvSpPr>
          <p:nvPr/>
        </p:nvSpPr>
        <p:spPr>
          <a:xfrm>
            <a:off x="7791450" y="2114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What this means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487D14-1CBE-4AB8-9AAC-E905E3827F9B}"/>
              </a:ext>
            </a:extLst>
          </p:cNvPr>
          <p:cNvSpPr>
            <a:spLocks noGrp="1"/>
          </p:cNvSpPr>
          <p:nvPr/>
        </p:nvSpPr>
        <p:spPr>
          <a:xfrm>
            <a:off x="7791450" y="2667000"/>
            <a:ext cx="2762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Electronics contributes ₹50.78M, more than twice the revenue of every other category.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06EC70-45E4-4748-A71E-D392179AFF6F}"/>
              </a:ext>
            </a:extLst>
          </p:cNvPr>
          <p:cNvSpPr>
            <a:spLocks noGrp="1"/>
          </p:cNvSpPr>
          <p:nvPr/>
        </p:nvSpPr>
        <p:spPr>
          <a:xfrm>
            <a:off x="7791450" y="39814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Business implication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55A29D-1089-4F0C-8824-905EA7AB579A}"/>
              </a:ext>
            </a:extLst>
          </p:cNvPr>
          <p:cNvSpPr>
            <a:spLocks noGrp="1"/>
          </p:cNvSpPr>
          <p:nvPr/>
        </p:nvSpPr>
        <p:spPr>
          <a:xfrm>
            <a:off x="7791450" y="438150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Prioritise inventory availability and targeted promotions for high-performing electronics products.</a:t>
            </a:r>
          </a:p>
        </p:txBody>
      </p:sp>
    </p:spTree>
    <p:extLst>
      <p:ext uri="{BB962C8B-B14F-4D97-AF65-F5344CB8AC3E}">
        <p14:creationId xmlns:p14="http://schemas.microsoft.com/office/powerpoint/2010/main" val="205725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7A4130-74FC-4E08-A940-EF43739E2B5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Revenue is concentrated in a small group of cities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A21A49-D788-4840-87E2-FE5987B3ABA8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9F2DE6-424C-4C3E-BAB8-709BDD31848F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85800" y="1695450"/>
          <a:ext cx="5095875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ECC2789-7814-4E99-BE0B-493A02BCB43C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5095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Top five cities by revenue (₹M)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6334125" y="1695450"/>
          <a:ext cx="4953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DD7DF40-6608-4EDA-8C3D-7FF6768A40AF}"/>
              </a:ext>
            </a:extLst>
          </p:cNvPr>
          <p:cNvSpPr>
            <a:spLocks noGrp="1"/>
          </p:cNvSpPr>
          <p:nvPr/>
        </p:nvSpPr>
        <p:spPr>
          <a:xfrm>
            <a:off x="6334125" y="14097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Monthly revenue trend, 2025 (₹M)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733B89-32D2-44ED-B2D4-0F0DC42F2D83}"/>
              </a:ext>
            </a:extLst>
          </p:cNvPr>
          <p:cNvSpPr>
            <a:spLocks noGrp="1"/>
          </p:cNvSpPr>
          <p:nvPr/>
        </p:nvSpPr>
        <p:spPr>
          <a:xfrm>
            <a:off x="685800" y="58578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Patna leads city revenue; March is the strongest sales month in 2025.</a:t>
            </a:r>
          </a:p>
        </p:txBody>
      </p:sp>
    </p:spTree>
    <p:extLst>
      <p:ext uri="{BB962C8B-B14F-4D97-AF65-F5344CB8AC3E}">
        <p14:creationId xmlns:p14="http://schemas.microsoft.com/office/powerpoint/2010/main" val="19394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9DB6FC3-1FEE-4087-A328-04F84D24A3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High-value customers generate more than half of total revenue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3765B-F16E-4D8B-9385-85FEA6E5BDC7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164041-A22B-48CD-8A92-B98CDD4C03F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685800" y="1714500"/>
          <a:ext cx="5810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5AD1321-063D-42F1-BB0D-2ACDB0FA23E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81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Revenue by customer segment (₹M)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31D71A-B074-4988-B560-8F22D62ECBBC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3714750" cy="3714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C9F61-A56D-4CF4-B45C-381B2CD650AF}"/>
              </a:ext>
            </a:extLst>
          </p:cNvPr>
          <p:cNvSpPr>
            <a:spLocks noGrp="1"/>
          </p:cNvSpPr>
          <p:nvPr/>
        </p:nvSpPr>
        <p:spPr>
          <a:xfrm>
            <a:off x="7620000" y="20764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segments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2C290-D79B-482B-8936-AC104A265280}"/>
              </a:ext>
            </a:extLst>
          </p:cNvPr>
          <p:cNvSpPr>
            <a:spLocks noGrp="1"/>
          </p:cNvSpPr>
          <p:nvPr/>
        </p:nvSpPr>
        <p:spPr>
          <a:xfrm>
            <a:off x="7620000" y="26670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High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494125-4669-4AAC-A13B-4165A5943572}"/>
              </a:ext>
            </a:extLst>
          </p:cNvPr>
          <p:cNvSpPr>
            <a:spLocks noGrp="1"/>
          </p:cNvSpPr>
          <p:nvPr/>
        </p:nvSpPr>
        <p:spPr>
          <a:xfrm>
            <a:off x="7620000" y="29908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237 customers | ₹77.05M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BCD26-E83F-4BC6-9104-64BF4BA4213A}"/>
              </a:ext>
            </a:extLst>
          </p:cNvPr>
          <p:cNvSpPr>
            <a:spLocks noGrp="1"/>
          </p:cNvSpPr>
          <p:nvPr/>
        </p:nvSpPr>
        <p:spPr>
          <a:xfrm>
            <a:off x="7620000" y="35718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Medium Value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F1AE1C-C5D8-40F3-B020-29F9CA5242E8}"/>
              </a:ext>
            </a:extLst>
          </p:cNvPr>
          <p:cNvSpPr>
            <a:spLocks noGrp="1"/>
          </p:cNvSpPr>
          <p:nvPr/>
        </p:nvSpPr>
        <p:spPr>
          <a:xfrm>
            <a:off x="7620000" y="389572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473 customers | ₹56.72M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89876E-7259-4D02-9FE7-6C5063CFBCE8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Low 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3FCF87-F89A-4875-922C-423607CA3366}"/>
              </a:ext>
            </a:extLst>
          </p:cNvPr>
          <p:cNvSpPr>
            <a:spLocks noGrp="1"/>
          </p:cNvSpPr>
          <p:nvPr/>
        </p:nvSpPr>
        <p:spPr>
          <a:xfrm>
            <a:off x="7620000" y="4800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237 customers | ₹5.63M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26C854-7C13-450C-8283-A5B16DA3C20C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Retention and personalised offers should focus first on high-value customers.</a:t>
            </a:r>
          </a:p>
        </p:txBody>
      </p:sp>
    </p:spTree>
    <p:extLst>
      <p:ext uri="{BB962C8B-B14F-4D97-AF65-F5344CB8AC3E}">
        <p14:creationId xmlns:p14="http://schemas.microsoft.com/office/powerpoint/2010/main" val="63844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9896BD0-5FE2-476B-939E-B3EEC36E00A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Gender-based sales differences were tested rather than assumed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B2EF5F-4045-46FC-8182-CF530879FE49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0D71A-B091-474F-9B4F-2D2D62B54BC8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9A55C8-C596-4697-9D37-EA38273EA738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485775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377F9-AB8D-49E3-AB32-E9543B09CF4F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Business question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A5920-4599-4C61-901D-BFBA5FCC7845}"/>
              </a:ext>
            </a:extLst>
          </p:cNvPr>
          <p:cNvSpPr>
            <a:spLocks noGrp="1"/>
          </p:cNvSpPr>
          <p:nvPr/>
        </p:nvSpPr>
        <p:spPr>
          <a:xfrm>
            <a:off x="1047750" y="2438400"/>
            <a:ext cx="3905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 male and female customers have significantly different average total sales?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1442DC-AA6E-42EB-8568-1AE9D3B7F801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3810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H₀: Mean sales are equal</a:t>
            </a:r>
          </a:p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H₁: Mean sales are different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F84511-3B6E-4077-AB5E-ED55F0553223}"/>
              </a:ext>
            </a:extLst>
          </p:cNvPr>
          <p:cNvSpPr>
            <a:spLocks noGrp="1"/>
          </p:cNvSpPr>
          <p:nvPr/>
        </p:nvSpPr>
        <p:spPr>
          <a:xfrm>
            <a:off x="6419850" y="1600200"/>
            <a:ext cx="4667250" cy="3619500"/>
          </a:xfrm>
          <a:prstGeom prst="roundRect">
            <a:avLst>
              <a:gd name="adj" fmla="val 4211"/>
            </a:avLst>
          </a:prstGeom>
          <a:solidFill>
            <a:srgbClr val="EAF5FB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D6132A-574D-4EE7-B6CC-BA50A676DE4E}"/>
              </a:ext>
            </a:extLst>
          </p:cNvPr>
          <p:cNvSpPr>
            <a:spLocks noGrp="1"/>
          </p:cNvSpPr>
          <p:nvPr/>
        </p:nvSpPr>
        <p:spPr>
          <a:xfrm>
            <a:off x="6800850" y="2000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CDD6EA-3C9C-43A0-AE44-613355795D0D}"/>
              </a:ext>
            </a:extLst>
          </p:cNvPr>
          <p:cNvSpPr>
            <a:spLocks noGrp="1"/>
          </p:cNvSpPr>
          <p:nvPr/>
        </p:nvSpPr>
        <p:spPr>
          <a:xfrm>
            <a:off x="6800850" y="2438400"/>
            <a:ext cx="3714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Welch independent-samples t-test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918F0-F798-4731-B76C-3BA83800FCBE}"/>
              </a:ext>
            </a:extLst>
          </p:cNvPr>
          <p:cNvSpPr>
            <a:spLocks noGrp="1"/>
          </p:cNvSpPr>
          <p:nvPr/>
        </p:nvSpPr>
        <p:spPr>
          <a:xfrm>
            <a:off x="6800850" y="3190875"/>
            <a:ext cx="34290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Two independent customer groups</a:t>
            </a:r>
          </a:p>
          <a:p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Outcome variable: Total_Sales</a:t>
            </a:r>
          </a:p>
          <a:p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Significance level: 5%</a:t>
            </a:r>
          </a:p>
          <a:p>
            <a:pPr algn="l">
              <a:defRPr sz="15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Unequal-variance assumption used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EE91DF-FDFB-4F92-9AEB-F8A94168473E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This test checks whether the observed average difference is likely to be real or simply random variation.</a:t>
            </a:r>
          </a:p>
        </p:txBody>
      </p:sp>
    </p:spTree>
    <p:extLst>
      <p:ext uri="{BB962C8B-B14F-4D97-AF65-F5344CB8AC3E}">
        <p14:creationId xmlns:p14="http://schemas.microsoft.com/office/powerpoint/2010/main" val="365404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A051FED-1478-4A8F-8F73-BCA87B7C00D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The difference in average sales by gender is not statistically significant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B8E399-12A4-41EC-A297-F269366C975B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D233D-CF4A-4FD6-A232-9366304985F8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373439-69D0-4122-9BC3-BD4D3451961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E415A8-D282-4B36-AFB0-32E22950C152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Male average sales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70F5E-BCA0-434F-AB1C-02B29F3B9117}"/>
              </a:ext>
            </a:extLst>
          </p:cNvPr>
          <p:cNvSpPr>
            <a:spLocks noGrp="1"/>
          </p:cNvSpPr>
          <p:nvPr/>
        </p:nvSpPr>
        <p:spPr>
          <a:xfrm>
            <a:off x="93345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₹141,807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18E62B-8C78-404C-AC42-DC5492F11663}"/>
              </a:ext>
            </a:extLst>
          </p:cNvPr>
          <p:cNvSpPr>
            <a:spLocks noGrp="1"/>
          </p:cNvSpPr>
          <p:nvPr/>
        </p:nvSpPr>
        <p:spPr>
          <a:xfrm>
            <a:off x="93345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 = 511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F818F-9210-43F0-915B-2FF2FC0F6057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76200" cy="22383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1CC37F-54A4-475A-9B60-0BEC4C3FF2A4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4ADCEE-C8D7-46BA-92CF-FA62ACA3703B}"/>
              </a:ext>
            </a:extLst>
          </p:cNvPr>
          <p:cNvSpPr>
            <a:spLocks noGrp="1"/>
          </p:cNvSpPr>
          <p:nvPr/>
        </p:nvSpPr>
        <p:spPr>
          <a:xfrm>
            <a:off x="472440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Female average sales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ED1461-5202-4377-9640-40EF572F6542}"/>
              </a:ext>
            </a:extLst>
          </p:cNvPr>
          <p:cNvSpPr>
            <a:spLocks noGrp="1"/>
          </p:cNvSpPr>
          <p:nvPr/>
        </p:nvSpPr>
        <p:spPr>
          <a:xfrm>
            <a:off x="472440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₹136,883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BAE48C-1D6C-4963-A742-A321EAF45A79}"/>
              </a:ext>
            </a:extLst>
          </p:cNvPr>
          <p:cNvSpPr>
            <a:spLocks noGrp="1"/>
          </p:cNvSpPr>
          <p:nvPr/>
        </p:nvSpPr>
        <p:spPr>
          <a:xfrm>
            <a:off x="472440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 = 489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0155A4-9713-43D4-BCAA-DC431F2DCBFA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76200" cy="2238375"/>
          </a:xfrm>
          <a:prstGeom prst="rect">
            <a:avLst/>
          </a:prstGeom>
          <a:solidFill>
            <a:srgbClr val="7F56D9"/>
          </a:solidFill>
          <a:ln w="0">
            <a:solidFill>
              <a:srgbClr val="7F56D9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546F1D-56F5-4F9F-B9F3-08E9998552C5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3238500" cy="2238375"/>
          </a:xfrm>
          <a:prstGeom prst="roundRect">
            <a:avLst>
              <a:gd name="adj" fmla="val 6809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8D302C-71AF-4EC3-B5EA-2C9E323B819C}"/>
              </a:ext>
            </a:extLst>
          </p:cNvPr>
          <p:cNvSpPr>
            <a:spLocks noGrp="1"/>
          </p:cNvSpPr>
          <p:nvPr/>
        </p:nvSpPr>
        <p:spPr>
          <a:xfrm>
            <a:off x="8515350" y="27622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P-value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A15CB-0994-4F52-BEEB-D5F5CAAF0547}"/>
              </a:ext>
            </a:extLst>
          </p:cNvPr>
          <p:cNvSpPr>
            <a:spLocks noGrp="1"/>
          </p:cNvSpPr>
          <p:nvPr/>
        </p:nvSpPr>
        <p:spPr>
          <a:xfrm>
            <a:off x="8515350" y="3190875"/>
            <a:ext cx="276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0.495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8248CD-C138-4B20-A981-1B47315EFA8E}"/>
              </a:ext>
            </a:extLst>
          </p:cNvPr>
          <p:cNvSpPr>
            <a:spLocks noGrp="1"/>
          </p:cNvSpPr>
          <p:nvPr/>
        </p:nvSpPr>
        <p:spPr>
          <a:xfrm>
            <a:off x="8515350" y="3905250"/>
            <a:ext cx="276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Greater than α = 0.05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15EEA-7DF4-4A8E-AB9F-9F10EAA14320}"/>
              </a:ext>
            </a:extLst>
          </p:cNvPr>
          <p:cNvSpPr>
            <a:spLocks noGrp="1"/>
          </p:cNvSpPr>
          <p:nvPr/>
        </p:nvSpPr>
        <p:spPr>
          <a:xfrm>
            <a:off x="8267700" y="2476500"/>
            <a:ext cx="76200" cy="2238375"/>
          </a:xfrm>
          <a:prstGeom prst="rect">
            <a:avLst/>
          </a:prstGeom>
          <a:solidFill>
            <a:srgbClr val="F79009"/>
          </a:solidFill>
          <a:ln w="0">
            <a:solidFill>
              <a:srgbClr val="F79009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5C437D-8D04-4F20-9C1E-726DB37AF410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Welch t-test: t = 0.6826  |  95% confidence interval for mean difference: -₹9,229 to ₹19,077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E40C93-C88F-423B-BF51-BB9FA73AF0CA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Decision: Fail to reject H₀. Gender alone should not be the primary basis for sales targeting.</a:t>
            </a:r>
          </a:p>
        </p:txBody>
      </p:sp>
    </p:spTree>
    <p:extLst>
      <p:ext uri="{BB962C8B-B14F-4D97-AF65-F5344CB8AC3E}">
        <p14:creationId xmlns:p14="http://schemas.microsoft.com/office/powerpoint/2010/main" val="176210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FADDAD2-B09F-4263-9ABB-D8812898584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Recommended actions focus on customer value, categories, and cities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46F24-4554-4690-86E2-9539B8A34545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3C7AAD-1025-42AC-9964-0040C9F95736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F7432B-EC4C-412C-9B7B-EE351F2D522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762500" cy="3619500"/>
          </a:xfrm>
          <a:prstGeom prst="roundRect">
            <a:avLst>
              <a:gd name="adj" fmla="val 4211"/>
            </a:avLst>
          </a:prstGeom>
          <a:solidFill>
            <a:srgbClr val="EAF5FB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3408F7-44E7-41C5-BF17-A2088108FC47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Priority 1 - Retain high-value customers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ED532-CF40-46CD-B81A-4DD77B54A684}"/>
              </a:ext>
            </a:extLst>
          </p:cNvPr>
          <p:cNvSpPr>
            <a:spLocks noGrp="1"/>
          </p:cNvSpPr>
          <p:nvPr/>
        </p:nvSpPr>
        <p:spPr>
          <a:xfrm>
            <a:off x="1066800" y="2457450"/>
            <a:ext cx="3667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personalised offers, loyalty benefits, and proactive support for the 237 high-value customers.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D73784-5774-4FA2-90A4-DA67D1EB486A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36671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Priority 2 - Grow medium-value customers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2403BF-CEFE-44F2-831A-BE0FC4955AA1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3667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Use cross-sell and upsell campaigns to move medium-value customers upward.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2D1A90-043A-4392-909B-BF51D240C9D8}"/>
              </a:ext>
            </a:extLst>
          </p:cNvPr>
          <p:cNvSpPr>
            <a:spLocks noGrp="1"/>
          </p:cNvSpPr>
          <p:nvPr/>
        </p:nvSpPr>
        <p:spPr>
          <a:xfrm>
            <a:off x="6381750" y="1619250"/>
            <a:ext cx="4762500" cy="36195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EDC4B-3E88-4CCD-A1F8-01EA79658470}"/>
              </a:ext>
            </a:extLst>
          </p:cNvPr>
          <p:cNvSpPr>
            <a:spLocks noGrp="1"/>
          </p:cNvSpPr>
          <p:nvPr/>
        </p:nvSpPr>
        <p:spPr>
          <a:xfrm>
            <a:off x="6762750" y="19812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Priority 3 - Focus sales execution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4640D2-B397-43E6-A303-B6CD1C0834DF}"/>
              </a:ext>
            </a:extLst>
          </p:cNvPr>
          <p:cNvSpPr>
            <a:spLocks noGrp="1"/>
          </p:cNvSpPr>
          <p:nvPr/>
        </p:nvSpPr>
        <p:spPr>
          <a:xfrm>
            <a:off x="6762750" y="245745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Prioritise electronics, top products, and high-revenue cities such as Patna, Kolkata, Bengaluru, and Mumbai.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7A0965-078C-4A12-AAD9-5F7E50EEE05A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Priority 4 - Avoid unsupported targeting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6BD58F-26E0-45B1-A533-C8D9C9E7CF30}"/>
              </a:ext>
            </a:extLst>
          </p:cNvPr>
          <p:cNvSpPr>
            <a:spLocks noGrp="1"/>
          </p:cNvSpPr>
          <p:nvPr/>
        </p:nvSpPr>
        <p:spPr>
          <a:xfrm>
            <a:off x="6762750" y="41910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Do not base campaigns on gender alone because the statistical test found no significant sales difference.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DFBC8-30F3-4DAD-B12F-0B26145EAA46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66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 takeaway: target value and behaviour, not demographic assumptions.</a:t>
            </a:r>
          </a:p>
        </p:txBody>
      </p:sp>
    </p:spTree>
    <p:extLst>
      <p:ext uri="{BB962C8B-B14F-4D97-AF65-F5344CB8AC3E}">
        <p14:creationId xmlns:p14="http://schemas.microsoft.com/office/powerpoint/2010/main" val="174636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702CB8-1FE9-1378-92D6-E7AA131B7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9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655</Words>
  <Application>Microsoft Office PowerPoint</Application>
  <DocSecurity>0</DocSecurity>
  <PresentationFormat>Widescreen</PresentationFormat>
  <Paragraphs>108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Mansi Gupta</cp:lastModifiedBy>
  <cp:revision>1</cp:revision>
  <dcterms:created xsi:type="dcterms:W3CDTF">2026-08-13T05:39:18Z</dcterms:created>
  <dcterms:modified xsi:type="dcterms:W3CDTF">2026-08-13T06:19:02Z</dcterms:modified>
</cp:coreProperties>
</file>